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1B4F72">
              <a:alpha val="30000"/>
            </a:srgbClr>
          </a:solidFill>
          <a:ln w="12700">
            <a:solidFill>
              <a:srgbClr val="1B4F7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2286000" cy="2286000"/>
          </a:xfrm>
          <a:prstGeom prst="ellipse">
            <a:avLst/>
          </a:prstGeom>
          <a:solidFill>
            <a:srgbClr val="2E86AB">
              <a:alpha val="20000"/>
            </a:srgbClr>
          </a:solidFill>
          <a:ln w="12700">
            <a:solidFill>
              <a:srgbClr val="2E86AB">
                <a:alpha val="2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1440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02920"/>
            <a:ext cx="6583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DAD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Quantum Computing &amp;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097280"/>
            <a:ext cx="6858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Blockchain Cryptography Crisis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57200" y="1828800"/>
            <a:ext cx="7772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B3D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Structured Threat Assessment &amp; Post-Quantum Migration Framework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377440"/>
            <a:ext cx="5943600" cy="32004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10" name="Text 7"/>
          <p:cNvSpPr/>
          <p:nvPr/>
        </p:nvSpPr>
        <p:spPr>
          <a:xfrm>
            <a:off x="457200" y="2514600"/>
            <a:ext cx="6400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B3D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Areeba Tahir  |  BITF22M011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B3D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Information Technology  —  Cyber Security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B3D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April 2026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023360"/>
            <a:ext cx="8412480" cy="530352"/>
          </a:xfrm>
          <a:prstGeom prst="rect">
            <a:avLst/>
          </a:prstGeom>
          <a:solidFill>
            <a:srgbClr val="1B4F72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8640" y="4096512"/>
            <a:ext cx="8229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Keywords:  Blockchain  ·  Quantum Computing  ·  ECDSA  ·  Shor's Algorithm  ·  Post-Quantum Cryptography  ·  NIST PQC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10972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502920" cy="109728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6" name="Text 4"/>
          <p:cNvSpPr/>
          <p:nvPr/>
        </p:nvSpPr>
        <p:spPr>
          <a:xfrm>
            <a:off x="338328" y="1325880"/>
            <a:ext cx="47548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3429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Blockchain Cryptographic Foundations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536192"/>
            <a:ext cx="3429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ECDSA, Hash Functions, Decentralization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4114800" cy="10972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286000"/>
            <a:ext cx="502920" cy="109728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11" name="Text 9"/>
          <p:cNvSpPr/>
          <p:nvPr/>
        </p:nvSpPr>
        <p:spPr>
          <a:xfrm>
            <a:off x="338328" y="2606040"/>
            <a:ext cx="47548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377440"/>
            <a:ext cx="3429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Quantum Threat Model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816352"/>
            <a:ext cx="3429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Shor's &amp; Grover's Algorithms, Harvest Now Decrypt Later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566160"/>
            <a:ext cx="4114800" cy="10972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566160"/>
            <a:ext cx="502920" cy="109728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16" name="Text 14"/>
          <p:cNvSpPr/>
          <p:nvPr/>
        </p:nvSpPr>
        <p:spPr>
          <a:xfrm>
            <a:off x="338328" y="3886200"/>
            <a:ext cx="47548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657600"/>
            <a:ext cx="3429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Layer-by-Layer Vulnerability Assessment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096512"/>
            <a:ext cx="3429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security layers ranked by severity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114800" cy="10972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05840"/>
            <a:ext cx="502920" cy="109728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21" name="Text 19"/>
          <p:cNvSpPr/>
          <p:nvPr/>
        </p:nvSpPr>
        <p:spPr>
          <a:xfrm>
            <a:off x="4773168" y="1325880"/>
            <a:ext cx="47548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1097280"/>
            <a:ext cx="3429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Post-Quantum Cryptographic Alternatives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1536192"/>
            <a:ext cx="3429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Lattice, Hash-Based, Code-Based, Hybrid Schemes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286000"/>
            <a:ext cx="4114800" cy="10972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86000"/>
            <a:ext cx="502920" cy="109728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26" name="Text 24"/>
          <p:cNvSpPr/>
          <p:nvPr/>
        </p:nvSpPr>
        <p:spPr>
          <a:xfrm>
            <a:off x="4773168" y="2606040"/>
            <a:ext cx="47548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2377440"/>
            <a:ext cx="3429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Migration Feasibility &amp; Framework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2816352"/>
            <a:ext cx="3429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Technical, governance &amp; implementation challenges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566160"/>
            <a:ext cx="4114800" cy="10972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66160"/>
            <a:ext cx="502920" cy="109728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31" name="Text 29"/>
          <p:cNvSpPr/>
          <p:nvPr/>
        </p:nvSpPr>
        <p:spPr>
          <a:xfrm>
            <a:off x="4773168" y="3886200"/>
            <a:ext cx="47548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3657600"/>
            <a:ext cx="3429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Conclusions &amp; Future Research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4096512"/>
            <a:ext cx="3429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findings and open problems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</p:spPr>
      </p:sp>
      <p:sp>
        <p:nvSpPr>
          <p:cNvPr id="3" name="Text 1"/>
          <p:cNvSpPr/>
          <p:nvPr/>
        </p:nvSpPr>
        <p:spPr>
          <a:xfrm>
            <a:off x="320040" y="109728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303520" cy="36576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5029200" cy="3429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Blockchain?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decentralized, distributed ledger introduced by Satoshi Nakamoto in 2008 (Bitcoin). Used in finance, healthcare, supply chain, e-voting &amp; smart contracts. [3]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Its Security Pillars: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 Elliptic Curve Digital Signature Algorithm (ECDSA)
② Cryptographic Hash Functions (SHA-256, Keccak-256)
③ Decentralized Consensus Mechanism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Problem: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Quantum computers can break the math behind ECDSA. Decentralization does NOT protect against this — the threat is cryptographic, not architectural. [1, 2]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914400"/>
            <a:ext cx="3017520" cy="749808"/>
          </a:xfrm>
          <a:prstGeom prst="rect">
            <a:avLst/>
          </a:prstGeom>
          <a:solidFill>
            <a:srgbClr val="2E86AB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97880" y="950976"/>
            <a:ext cx="2926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2008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97880" y="1335024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Bitcoin Launched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52160" y="1828800"/>
            <a:ext cx="3017520" cy="749808"/>
          </a:xfrm>
          <a:prstGeom prst="rect">
            <a:avLst/>
          </a:prstGeom>
          <a:solidFill>
            <a:srgbClr val="1B4F72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97880" y="1865376"/>
            <a:ext cx="2926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256-bit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897880" y="2249424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ECDSA Key Length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2743200"/>
            <a:ext cx="3017520" cy="749808"/>
          </a:xfrm>
          <a:prstGeom prst="rect">
            <a:avLst/>
          </a:prstGeom>
          <a:solidFill>
            <a:srgbClr val="27AE60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97880" y="2779776"/>
            <a:ext cx="2926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~128 bits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897880" y="3163824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Classical Security Level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0" y="3657600"/>
            <a:ext cx="3017520" cy="749808"/>
          </a:xfrm>
          <a:prstGeom prst="rect">
            <a:avLst/>
          </a:prstGeom>
          <a:solidFill>
            <a:srgbClr val="E74C3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97880" y="3694176"/>
            <a:ext cx="2926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 bits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897880" y="4078224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vs. Quantum (Shor)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</p:spPr>
      </p:sp>
      <p:sp>
        <p:nvSpPr>
          <p:cNvPr id="3" name="Text 1"/>
          <p:cNvSpPr/>
          <p:nvPr/>
        </p:nvSpPr>
        <p:spPr>
          <a:xfrm>
            <a:off x="320040" y="109728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Cryptographic Foundations of Blockchain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2788920" cy="391363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96112"/>
            <a:ext cx="2788920" cy="640080"/>
          </a:xfrm>
          <a:prstGeom prst="rect">
            <a:avLst/>
          </a:prstGeom>
          <a:solidFill>
            <a:srgbClr val="1B4F72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50976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914400"/>
            <a:ext cx="2148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Public-Key Cryptography (ECDSA)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84048" y="1664208"/>
            <a:ext cx="2578608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Bitcoin &amp; Ethereum use ECDSA over secp256k1. Security rests on the Elliptic Curve Discrete Logarithm Problem (ECDLP): given Q = kP on a curve, finding k is computationally impossible classically. 256-bit key → 128-bit classical security. [8]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84048" y="4526280"/>
            <a:ext cx="257860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8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Ref: [4, 8]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00400" y="896112"/>
            <a:ext cx="2788920" cy="391363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896112"/>
            <a:ext cx="2788920" cy="640080"/>
          </a:xfrm>
          <a:prstGeom prst="rect">
            <a:avLst/>
          </a:prstGeom>
          <a:solidFill>
            <a:srgbClr val="1B4F72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950976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94760" y="914400"/>
            <a:ext cx="2148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Hash Functions (SHA-256 / Keccak-256)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310128" y="1664208"/>
            <a:ext cx="2578608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Hash functions chain blocks together (each block stores previous block's hash). In Proof-of-Work, miners find a nonce so H(block) satisfies difficulty target. SHA-256 → 128 bits collision resistance under birthday attack (O(2^{n/2})). [5]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310128" y="4526280"/>
            <a:ext cx="257860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8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Ref: [3, 5]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126480" y="896112"/>
            <a:ext cx="2788920" cy="391363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896112"/>
            <a:ext cx="2788920" cy="640080"/>
          </a:xfrm>
          <a:prstGeom prst="rect">
            <a:avLst/>
          </a:prstGeom>
          <a:solidFill>
            <a:srgbClr val="1B4F72"/>
          </a:solidFill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50976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20840" y="914400"/>
            <a:ext cx="2148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Decentralization &amp; Consensus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236208" y="1664208"/>
            <a:ext cx="2578608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central point of failure. Modifying one block requires recomputing all following blocks AND outpacing the honest chain (51% attack). Strong against network-level attacks — but NOT against cryptographic key recovery. [1, 2]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236208" y="4526280"/>
            <a:ext cx="257860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8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Ref: [1, 2]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</p:spPr>
      </p:sp>
      <p:sp>
        <p:nvSpPr>
          <p:cNvPr id="3" name="Text 1"/>
          <p:cNvSpPr/>
          <p:nvPr/>
        </p:nvSpPr>
        <p:spPr>
          <a:xfrm>
            <a:off x="320040" y="109728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Quantum Threat Model — Two Key Algorithms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640080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6" name="Text 4"/>
          <p:cNvSpPr/>
          <p:nvPr/>
        </p:nvSpPr>
        <p:spPr>
          <a:xfrm>
            <a:off x="384048" y="960120"/>
            <a:ext cx="38862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 Shor's Algorithm (1994)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64208"/>
            <a:ext cx="3840480" cy="2999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Target: </a:t>
            </a: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ECDSA, RSA, Diffie-Hellman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Effect: </a:t>
            </a: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Solves discrete logarithm problem in POLYNOMIAL time — recovers private keys from public keys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Classical complexity: </a:t>
            </a: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O(2^n) exponential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Quantum complexity: </a:t>
            </a: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O(n³) polynomial  ← BREAKS ECDSA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Qubits needed: </a:t>
            </a: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~1,000 logical qubits for 160-bit curves [8]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Severity: </a:t>
            </a: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🔴 CRITICAL — direct, complete break
</a:t>
            </a:r>
            <a:endParaRPr lang="en-US" sz="1100" dirty="0"/>
          </a:p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Ref: [4] Shor (1997), SIAM J. Computing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114800" cy="38404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14400"/>
            <a:ext cx="4114800" cy="64008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10" name="Text 8"/>
          <p:cNvSpPr/>
          <p:nvPr/>
        </p:nvSpPr>
        <p:spPr>
          <a:xfrm>
            <a:off x="4828032" y="960120"/>
            <a:ext cx="38862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🔍  Grover's Algorithm (1996)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28032" y="1664208"/>
            <a:ext cx="3840480" cy="29992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Target: </a:t>
            </a: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Hash Functions (SHA-256, Keccak)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Effect: </a:t>
            </a: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Quadratic speedup for unstructured search — halves effective bit security of hash functions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Classical brute-force: </a:t>
            </a: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O(2^n)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Quantum speedup: </a:t>
            </a: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O(2^{n/2})  ← SHA-256 drops to 128-bit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 on mining: </a:t>
            </a: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dominate Proof-of-Work nonce search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Fix: </a:t>
            </a: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Double hash length (SHA-512) → restores security
</a:t>
            </a:r>
            <a:endParaRPr lang="en-US" sz="1100" dirty="0"/>
          </a:p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Ref: [5] Grover (1996), STOC Proceedings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3" name="Text 1"/>
          <p:cNvSpPr/>
          <p:nvPr/>
        </p:nvSpPr>
        <p:spPr>
          <a:xfrm>
            <a:off x="320040" y="109728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"Harvest Now, Decrypt Later" Threat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868680"/>
            <a:ext cx="1280160" cy="1280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solidFill>
            <a:srgbClr val="E74C3C">
              <a:alpha val="85000"/>
            </a:srgbClr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1078992"/>
            <a:ext cx="813816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Unlike encrypted web traffic, blockchain transactions are PERMANENT and PUBLIC. Every public key ever used is recorded on-chain forever — creating an eternal attack surface that does not expire.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0040" y="2240280"/>
            <a:ext cx="1965960" cy="475488"/>
          </a:xfrm>
          <a:prstGeom prst="rect">
            <a:avLst/>
          </a:prstGeom>
          <a:solidFill>
            <a:srgbClr val="2E86AB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0040" y="2267712"/>
            <a:ext cx="19659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TODAY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313432" y="2267712"/>
            <a:ext cx="164592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DAD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0040" y="2816352"/>
            <a:ext cx="1965960" cy="1188720"/>
          </a:xfrm>
          <a:prstGeom prst="rect">
            <a:avLst/>
          </a:prstGeom>
          <a:solidFill>
            <a:srgbClr val="1A2E4A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11480" y="2852928"/>
            <a:ext cx="1783080" cy="11155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Adversary harvests public keys from blockchain ledger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468880" y="2240280"/>
            <a:ext cx="1965960" cy="475488"/>
          </a:xfrm>
          <a:prstGeom prst="rect">
            <a:avLst/>
          </a:prstGeom>
          <a:solidFill>
            <a:srgbClr val="E67E22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468880" y="2267712"/>
            <a:ext cx="19659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NEAR FUTURE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462272" y="2267712"/>
            <a:ext cx="164592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DAD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468880" y="2816352"/>
            <a:ext cx="1965960" cy="1188720"/>
          </a:xfrm>
          <a:prstGeom prst="rect">
            <a:avLst/>
          </a:prstGeom>
          <a:solidFill>
            <a:srgbClr val="1A2E4A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560320" y="2852928"/>
            <a:ext cx="1783080" cy="11155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Stores transaction data — costs almost nothing to archive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17720" y="2240280"/>
            <a:ext cx="1965960" cy="475488"/>
          </a:xfrm>
          <a:prstGeom prst="rect">
            <a:avLst/>
          </a:prstGeom>
          <a:solidFill>
            <a:srgbClr val="E74C3C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617720" y="2267712"/>
            <a:ext cx="19659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QUANTUM ERA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611112" y="2267712"/>
            <a:ext cx="164592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DAD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617720" y="2816352"/>
            <a:ext cx="1965960" cy="1188720"/>
          </a:xfrm>
          <a:prstGeom prst="rect">
            <a:avLst/>
          </a:prstGeom>
          <a:solidFill>
            <a:srgbClr val="1A2E4A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709160" y="2852928"/>
            <a:ext cx="1783080" cy="11155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Shor's algorithm — recovers private keys from old public keys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766560" y="2240280"/>
            <a:ext cx="1965960" cy="475488"/>
          </a:xfrm>
          <a:prstGeom prst="rect">
            <a:avLst/>
          </a:prstGeom>
          <a:solidFill>
            <a:srgbClr val="8B0000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766560" y="2267712"/>
            <a:ext cx="19659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CATASTROPHE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766560" y="2816352"/>
            <a:ext cx="1965960" cy="1188720"/>
          </a:xfrm>
          <a:prstGeom prst="rect">
            <a:avLst/>
          </a:prstGeom>
          <a:solidFill>
            <a:srgbClr val="1A2E4A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858000" y="2852928"/>
            <a:ext cx="1783080" cy="11155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Steals funds, impersonates wallets, drains assets retroactively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5DADE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insight: </a:t>
            </a:r>
            <a:r>
              <a:rPr lang="en-US" sz="1100" i="1" dirty="0">
                <a:solidFill>
                  <a:srgbClr val="7FB3D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Blockchain's immutability — its greatest strength — becomes a liability in the quantum era. Ref: [1, 2]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</p:spPr>
      </p:sp>
      <p:sp>
        <p:nvSpPr>
          <p:cNvPr id="3" name="Text 1"/>
          <p:cNvSpPr/>
          <p:nvPr/>
        </p:nvSpPr>
        <p:spPr>
          <a:xfrm>
            <a:off x="320040" y="109728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Layer-by-Layer Quantum Threat Assessment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8595360" cy="71323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96112"/>
            <a:ext cx="777240" cy="713232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6" name="Text 4"/>
          <p:cNvSpPr/>
          <p:nvPr/>
        </p:nvSpPr>
        <p:spPr>
          <a:xfrm>
            <a:off x="274320" y="1097280"/>
            <a:ext cx="7772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" y="932688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Signatures (ECDSA)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1298448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 with CRYSTALS-DILITHIUM / FALCON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49040" y="1097280"/>
            <a:ext cx="21031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Shor's Algorithm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89320" y="1051560"/>
            <a:ext cx="1097280" cy="402336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11" name="Text 9"/>
          <p:cNvSpPr/>
          <p:nvPr/>
        </p:nvSpPr>
        <p:spPr>
          <a:xfrm>
            <a:off x="5989320" y="1097280"/>
            <a:ext cx="10972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223760" y="1152144"/>
            <a:ext cx="1463040" cy="201168"/>
          </a:xfrm>
          <a:prstGeom prst="rect">
            <a:avLst/>
          </a:prstGeom>
          <a:solidFill>
            <a:srgbClr val="DDDDDD"/>
          </a:solidFill>
        </p:spPr>
      </p:sp>
      <p:sp>
        <p:nvSpPr>
          <p:cNvPr id="13" name="Shape 11"/>
          <p:cNvSpPr/>
          <p:nvPr/>
        </p:nvSpPr>
        <p:spPr>
          <a:xfrm>
            <a:off x="7223760" y="1152144"/>
            <a:ext cx="1463040" cy="201168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14" name="Shape 12"/>
          <p:cNvSpPr/>
          <p:nvPr/>
        </p:nvSpPr>
        <p:spPr>
          <a:xfrm>
            <a:off x="274320" y="1700784"/>
            <a:ext cx="8595360" cy="713232"/>
          </a:xfrm>
          <a:prstGeom prst="rect">
            <a:avLst/>
          </a:prstGeom>
          <a:solidFill>
            <a:srgbClr val="E8F4FD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700784"/>
            <a:ext cx="777240" cy="713232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16" name="Text 14"/>
          <p:cNvSpPr/>
          <p:nvPr/>
        </p:nvSpPr>
        <p:spPr>
          <a:xfrm>
            <a:off x="274320" y="1901952"/>
            <a:ext cx="7772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" y="1737360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Hash Functions (SHA-256 / Keccak)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210312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Upgrade to SHA-512 or SHA-3-512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49040" y="1901952"/>
            <a:ext cx="21031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Grover's Algorithm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9320" y="1856232"/>
            <a:ext cx="1097280" cy="402336"/>
          </a:xfrm>
          <a:prstGeom prst="rect">
            <a:avLst/>
          </a:prstGeom>
          <a:solidFill>
            <a:srgbClr val="F39C12"/>
          </a:solidFill>
        </p:spPr>
      </p:sp>
      <p:sp>
        <p:nvSpPr>
          <p:cNvPr id="21" name="Text 19"/>
          <p:cNvSpPr/>
          <p:nvPr/>
        </p:nvSpPr>
        <p:spPr>
          <a:xfrm>
            <a:off x="5989320" y="1901952"/>
            <a:ext cx="10972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MODERATE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223760" y="1956816"/>
            <a:ext cx="1463040" cy="201168"/>
          </a:xfrm>
          <a:prstGeom prst="rect">
            <a:avLst/>
          </a:prstGeom>
          <a:solidFill>
            <a:srgbClr val="DDDDDD"/>
          </a:solidFill>
        </p:spPr>
      </p:sp>
      <p:sp>
        <p:nvSpPr>
          <p:cNvPr id="23" name="Shape 21"/>
          <p:cNvSpPr/>
          <p:nvPr/>
        </p:nvSpPr>
        <p:spPr>
          <a:xfrm>
            <a:off x="7223760" y="1956816"/>
            <a:ext cx="731520" cy="201168"/>
          </a:xfrm>
          <a:prstGeom prst="rect">
            <a:avLst/>
          </a:prstGeom>
          <a:solidFill>
            <a:srgbClr val="F39C12"/>
          </a:solidFill>
        </p:spPr>
      </p:sp>
      <p:sp>
        <p:nvSpPr>
          <p:cNvPr id="24" name="Shape 22"/>
          <p:cNvSpPr/>
          <p:nvPr/>
        </p:nvSpPr>
        <p:spPr>
          <a:xfrm>
            <a:off x="274320" y="2505456"/>
            <a:ext cx="8595360" cy="71323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505456"/>
            <a:ext cx="777240" cy="713232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26" name="Text 24"/>
          <p:cNvSpPr/>
          <p:nvPr/>
        </p:nvSpPr>
        <p:spPr>
          <a:xfrm>
            <a:off x="274320" y="2706624"/>
            <a:ext cx="7772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" y="2542032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Mining / Proof-of-Work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3000" y="2907792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Proof-of-Stake or quantum-proof PoW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749040" y="2706624"/>
            <a:ext cx="21031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Grover's Algorithm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89320" y="2660904"/>
            <a:ext cx="1097280" cy="402336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31" name="Text 29"/>
          <p:cNvSpPr/>
          <p:nvPr/>
        </p:nvSpPr>
        <p:spPr>
          <a:xfrm>
            <a:off x="5989320" y="2706624"/>
            <a:ext cx="10972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223760" y="2761488"/>
            <a:ext cx="1463040" cy="201168"/>
          </a:xfrm>
          <a:prstGeom prst="rect">
            <a:avLst/>
          </a:prstGeom>
          <a:solidFill>
            <a:srgbClr val="DDDDDD"/>
          </a:solidFill>
        </p:spPr>
      </p:sp>
      <p:sp>
        <p:nvSpPr>
          <p:cNvPr id="33" name="Shape 31"/>
          <p:cNvSpPr/>
          <p:nvPr/>
        </p:nvSpPr>
        <p:spPr>
          <a:xfrm>
            <a:off x="7223760" y="2761488"/>
            <a:ext cx="1097280" cy="201168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34" name="Shape 32"/>
          <p:cNvSpPr/>
          <p:nvPr/>
        </p:nvSpPr>
        <p:spPr>
          <a:xfrm>
            <a:off x="274320" y="3310128"/>
            <a:ext cx="8595360" cy="713232"/>
          </a:xfrm>
          <a:prstGeom prst="rect">
            <a:avLst/>
          </a:prstGeom>
          <a:solidFill>
            <a:srgbClr val="E8F4FD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310128"/>
            <a:ext cx="777240" cy="713232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36" name="Text 34"/>
          <p:cNvSpPr/>
          <p:nvPr/>
        </p:nvSpPr>
        <p:spPr>
          <a:xfrm>
            <a:off x="274320" y="3511296"/>
            <a:ext cx="7772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" y="3346704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Communications (RSA/ECDH)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43000" y="3712464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CRYSTALS-Kyber for key encapsulation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749040" y="3511296"/>
            <a:ext cx="21031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Shor's Algorithm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89320" y="3465576"/>
            <a:ext cx="1097280" cy="402336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41" name="Text 39"/>
          <p:cNvSpPr/>
          <p:nvPr/>
        </p:nvSpPr>
        <p:spPr>
          <a:xfrm>
            <a:off x="5989320" y="3511296"/>
            <a:ext cx="10972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223760" y="3566160"/>
            <a:ext cx="1463040" cy="201168"/>
          </a:xfrm>
          <a:prstGeom prst="rect">
            <a:avLst/>
          </a:prstGeom>
          <a:solidFill>
            <a:srgbClr val="DDDDDD"/>
          </a:solidFill>
        </p:spPr>
      </p:sp>
      <p:sp>
        <p:nvSpPr>
          <p:cNvPr id="43" name="Shape 41"/>
          <p:cNvSpPr/>
          <p:nvPr/>
        </p:nvSpPr>
        <p:spPr>
          <a:xfrm>
            <a:off x="7223760" y="3566160"/>
            <a:ext cx="1097280" cy="201168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44" name="Shape 42"/>
          <p:cNvSpPr/>
          <p:nvPr/>
        </p:nvSpPr>
        <p:spPr>
          <a:xfrm>
            <a:off x="274320" y="4114800"/>
            <a:ext cx="8595360" cy="71323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74320" y="4114800"/>
            <a:ext cx="777240" cy="713232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46" name="Text 44"/>
          <p:cNvSpPr/>
          <p:nvPr/>
        </p:nvSpPr>
        <p:spPr>
          <a:xfrm>
            <a:off x="274320" y="4315968"/>
            <a:ext cx="7772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43000" y="4151376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Decentralization / Consensus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143000" y="4517136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Consensus aids migration — not a vulnerability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749040" y="4315968"/>
            <a:ext cx="21031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None (no direct quantum attack)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989320" y="4270248"/>
            <a:ext cx="1097280" cy="402336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51" name="Text 49"/>
          <p:cNvSpPr/>
          <p:nvPr/>
        </p:nvSpPr>
        <p:spPr>
          <a:xfrm>
            <a:off x="5989320" y="4315968"/>
            <a:ext cx="10972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N/A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223760" y="4343400"/>
            <a:ext cx="1463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Protected ✓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[1] Fernandez-Carames &amp; Fraga-Lamas (2020), IEEE Access  |  [2] Rodenburg &amp; Pappas (2017), MITRE Report MTR17048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</p:spPr>
      </p:sp>
      <p:sp>
        <p:nvSpPr>
          <p:cNvPr id="3" name="Text 1"/>
          <p:cNvSpPr/>
          <p:nvPr/>
        </p:nvSpPr>
        <p:spPr>
          <a:xfrm>
            <a:off x="320040" y="109728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Post-Quantum Cryptographic Alternatives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8595360" cy="475488"/>
          </a:xfrm>
          <a:prstGeom prst="rect">
            <a:avLst/>
          </a:prstGeom>
          <a:solidFill>
            <a:srgbClr val="D6EAF8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32688"/>
            <a:ext cx="83210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NIST launched its Post-Quantum Cryptography Standardization project in 2016 and published final standards in 2024 (FIPS 203, 204, 205). [6, 7]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60520" cy="162763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08760"/>
            <a:ext cx="4160520" cy="530352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8" name="Text 6"/>
          <p:cNvSpPr/>
          <p:nvPr/>
        </p:nvSpPr>
        <p:spPr>
          <a:xfrm>
            <a:off x="365760" y="1545336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CRYSTALS-DILITHIUM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810512"/>
            <a:ext cx="3886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Lattice-Based  ★ NIST Selected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3931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Use: Digital Signatures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393192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Replaces ECDSA. ~2,701 byte signatures vs. 64-byte ECDSA. Strong security proofs from LWE hardness. Fast on modern hardware. Best all-round PQC signature scheme. [10]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508760"/>
            <a:ext cx="4160520" cy="162763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508760"/>
            <a:ext cx="4160520" cy="530352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14" name="Text 12"/>
          <p:cNvSpPr/>
          <p:nvPr/>
        </p:nvSpPr>
        <p:spPr>
          <a:xfrm>
            <a:off x="4800600" y="1545336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FALCON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00600" y="1810512"/>
            <a:ext cx="3886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Lattice-Based (NTRU)  ★ NIST Selected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00600" y="2103120"/>
            <a:ext cx="3931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Use: Digital Signatures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2331720"/>
            <a:ext cx="393192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Smallest key &amp; signature sizes among NIST candidates (~666 bytes). Ideal for storage-constrained blockchains. Based on NTRU lattices. Slightly complex to implement. [11]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291840"/>
            <a:ext cx="4160520" cy="162763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291840"/>
            <a:ext cx="4160520" cy="530352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20" name="Text 18"/>
          <p:cNvSpPr/>
          <p:nvPr/>
        </p:nvSpPr>
        <p:spPr>
          <a:xfrm>
            <a:off x="365760" y="3328416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SPHINCS+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5760" y="3593592"/>
            <a:ext cx="3886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Hash-Based  ★ NIST Selected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3886200"/>
            <a:ext cx="3931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Use: Digital Signatures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114800"/>
            <a:ext cx="393192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conservative option — security based only on hash functions. Stateless design. Large signatures (8–50 KB). Used in QRL blockchain. Maximum assurance but high storage cost. [12]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3291840"/>
            <a:ext cx="4160520" cy="1627632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291840"/>
            <a:ext cx="4160520" cy="530352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26" name="Text 24"/>
          <p:cNvSpPr/>
          <p:nvPr/>
        </p:nvSpPr>
        <p:spPr>
          <a:xfrm>
            <a:off x="4800600" y="3328416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CRYSTALS-Kyber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00600" y="3593592"/>
            <a:ext cx="3886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Lattice-Based  ★ NIST Selected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00600" y="3886200"/>
            <a:ext cx="3931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Use: Key Encapsulation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4114800"/>
            <a:ext cx="393192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Replaces ECDH for key exchange. ~800-byte public key. Fast enough for high-throughput transactions. Secures P2P communications in blockchain networks. [13]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</p:spPr>
      </p:sp>
      <p:sp>
        <p:nvSpPr>
          <p:cNvPr id="3" name="Text 1"/>
          <p:cNvSpPr/>
          <p:nvPr/>
        </p:nvSpPr>
        <p:spPr>
          <a:xfrm>
            <a:off x="320040" y="109728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 Comparison — PQC vs. Classical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883664" cy="475488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5" name="Text 3"/>
          <p:cNvSpPr/>
          <p:nvPr/>
        </p:nvSpPr>
        <p:spPr>
          <a:xfrm>
            <a:off x="329184" y="978408"/>
            <a:ext cx="1828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12848" y="960120"/>
            <a:ext cx="1243584" cy="475488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7" name="Text 5"/>
          <p:cNvSpPr/>
          <p:nvPr/>
        </p:nvSpPr>
        <p:spPr>
          <a:xfrm>
            <a:off x="2267712" y="978408"/>
            <a:ext cx="11887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11296" y="960120"/>
            <a:ext cx="1243584" cy="475488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9" name="Text 7"/>
          <p:cNvSpPr/>
          <p:nvPr/>
        </p:nvSpPr>
        <p:spPr>
          <a:xfrm>
            <a:off x="3566160" y="978408"/>
            <a:ext cx="11887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Signature Size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9744" y="960120"/>
            <a:ext cx="1335024" cy="475488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11" name="Text 9"/>
          <p:cNvSpPr/>
          <p:nvPr/>
        </p:nvSpPr>
        <p:spPr>
          <a:xfrm>
            <a:off x="4864608" y="978408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 Key Size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99632" y="960120"/>
            <a:ext cx="1152144" cy="475488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13" name="Text 11"/>
          <p:cNvSpPr/>
          <p:nvPr/>
        </p:nvSpPr>
        <p:spPr>
          <a:xfrm>
            <a:off x="6254496" y="978408"/>
            <a:ext cx="10972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Quantum Safe?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06640" y="960120"/>
            <a:ext cx="969264" cy="475488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15" name="Text 13"/>
          <p:cNvSpPr/>
          <p:nvPr/>
        </p:nvSpPr>
        <p:spPr>
          <a:xfrm>
            <a:off x="7461504" y="978408"/>
            <a:ext cx="9144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NIST Status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508760"/>
            <a:ext cx="8595360" cy="621792"/>
          </a:xfrm>
          <a:prstGeom prst="rect">
            <a:avLst/>
          </a:prstGeom>
          <a:solidFill>
            <a:srgbClr val="FFF0EE"/>
          </a:solidFill>
        </p:spPr>
      </p:sp>
      <p:sp>
        <p:nvSpPr>
          <p:cNvPr id="17" name="Text 15"/>
          <p:cNvSpPr/>
          <p:nvPr/>
        </p:nvSpPr>
        <p:spPr>
          <a:xfrm>
            <a:off x="329184" y="1581912"/>
            <a:ext cx="18288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ECDSA (secp256k1)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267712" y="1581912"/>
            <a:ext cx="11887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Elliptic Curve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66160" y="1581912"/>
            <a:ext cx="11887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 bytes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64608" y="1581912"/>
            <a:ext cx="12801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 bytes (compressed)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54496" y="1581912"/>
            <a:ext cx="10972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BROKEN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61504" y="1581912"/>
            <a:ext cx="914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Legacy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185416"/>
            <a:ext cx="8595360" cy="62179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" name="Text 22"/>
          <p:cNvSpPr/>
          <p:nvPr/>
        </p:nvSpPr>
        <p:spPr>
          <a:xfrm>
            <a:off x="329184" y="2258568"/>
            <a:ext cx="18288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CRYSTALS-DILITHIUM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267712" y="2258568"/>
            <a:ext cx="11887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Lattice (LWE)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66160" y="2258568"/>
            <a:ext cx="11887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2,701 bytes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64608" y="2258568"/>
            <a:ext cx="12801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1,312 bytes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54496" y="2258568"/>
            <a:ext cx="10972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YES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61504" y="2258568"/>
            <a:ext cx="914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FIPS 204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862072"/>
            <a:ext cx="8595360" cy="621792"/>
          </a:xfrm>
          <a:prstGeom prst="rect">
            <a:avLst/>
          </a:prstGeom>
          <a:solidFill>
            <a:srgbClr val="E8F4FD"/>
          </a:solidFill>
        </p:spPr>
      </p:sp>
      <p:sp>
        <p:nvSpPr>
          <p:cNvPr id="31" name="Text 29"/>
          <p:cNvSpPr/>
          <p:nvPr/>
        </p:nvSpPr>
        <p:spPr>
          <a:xfrm>
            <a:off x="329184" y="2935224"/>
            <a:ext cx="18288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FALCON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267712" y="2935224"/>
            <a:ext cx="11887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Lattice (NTRU)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66160" y="2935224"/>
            <a:ext cx="11887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666 bytes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64608" y="2935224"/>
            <a:ext cx="12801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897 bytes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54496" y="2935224"/>
            <a:ext cx="10972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YES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61504" y="2935224"/>
            <a:ext cx="914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FIPS 206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538728"/>
            <a:ext cx="8595360" cy="62179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329184" y="3611880"/>
            <a:ext cx="18288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SPHINCS+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267712" y="3611880"/>
            <a:ext cx="11887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Hash-Based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566160" y="3611880"/>
            <a:ext cx="11887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8–50 KB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64608" y="3611880"/>
            <a:ext cx="12801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32–64 bytes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54496" y="3611880"/>
            <a:ext cx="10972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YES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461504" y="3611880"/>
            <a:ext cx="914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FIPS 205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215384"/>
            <a:ext cx="8595360" cy="621792"/>
          </a:xfrm>
          <a:prstGeom prst="rect">
            <a:avLst/>
          </a:prstGeom>
          <a:solidFill>
            <a:srgbClr val="E8F4FD"/>
          </a:solidFill>
        </p:spPr>
      </p:sp>
      <p:sp>
        <p:nvSpPr>
          <p:cNvPr id="45" name="Text 43"/>
          <p:cNvSpPr/>
          <p:nvPr/>
        </p:nvSpPr>
        <p:spPr>
          <a:xfrm>
            <a:off x="329184" y="4288536"/>
            <a:ext cx="18288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CRYSTALS-Kyber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267712" y="4288536"/>
            <a:ext cx="11887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Lattice (KEM)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566160" y="4288536"/>
            <a:ext cx="11887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N/A (KEM)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64608" y="4288536"/>
            <a:ext cx="12801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800 bytes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54496" y="4288536"/>
            <a:ext cx="10972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YES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461504" y="4288536"/>
            <a:ext cx="914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FIPS 203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Sources: [10] Ducas et al. (2018) CRYSTALS-Dilithium  |  [11] Prest et al. (2020) FALCON  |  [12] Bernstein et al. (2019) SPHINCS+  |  [13] Avanzi et al. (2021) Kyber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</p:spPr>
      </p:sp>
      <p:sp>
        <p:nvSpPr>
          <p:cNvPr id="3" name="Text 1"/>
          <p:cNvSpPr/>
          <p:nvPr/>
        </p:nvSpPr>
        <p:spPr>
          <a:xfrm>
            <a:off x="320040" y="109728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Migration Feasibility &amp; Key Challenges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920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512064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6" name="Text 4"/>
          <p:cNvSpPr/>
          <p:nvPr/>
        </p:nvSpPr>
        <p:spPr>
          <a:xfrm>
            <a:off x="365760" y="1005840"/>
            <a:ext cx="25603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📦  Data Size Overhead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84048" y="1517904"/>
            <a:ext cx="2542032" cy="12618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ECDSA signature: 64 bytes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CRYSTALS-DILITHIUM: 2,701 bytes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FALCON: 666 bytes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Millions of daily transactions → major storage &amp; bandwidth impact.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43200" cy="1920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14400"/>
            <a:ext cx="2743200" cy="512064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10" name="Text 8"/>
          <p:cNvSpPr/>
          <p:nvPr/>
        </p:nvSpPr>
        <p:spPr>
          <a:xfrm>
            <a:off x="3291840" y="1005840"/>
            <a:ext cx="25603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⚙️  Computational Cost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10128" y="1517904"/>
            <a:ext cx="2542032" cy="12618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PQC operations are heavier than ECDSA, especially on IoT and embedded devices used in supply-chain or healthcare blockchain endpoints. [1]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743200" cy="1920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14400"/>
            <a:ext cx="2743200" cy="512064"/>
          </a:xfrm>
          <a:prstGeom prst="rect">
            <a:avLst/>
          </a:prstGeom>
          <a:solidFill>
            <a:srgbClr val="F39C12"/>
          </a:solidFill>
        </p:spPr>
      </p:sp>
      <p:sp>
        <p:nvSpPr>
          <p:cNvPr id="14" name="Text 12"/>
          <p:cNvSpPr/>
          <p:nvPr/>
        </p:nvSpPr>
        <p:spPr>
          <a:xfrm>
            <a:off x="6217920" y="1005840"/>
            <a:ext cx="25603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🔑  Key Management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36208" y="1517904"/>
            <a:ext cx="2542032" cy="12618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Hash-based one-time signatures (XMSS) impose strict key reuse limits. Reusing a key degrades security, requiring careful lifecycle management infrastructure.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2743200" cy="1920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71800"/>
            <a:ext cx="2743200" cy="512064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18" name="Text 16"/>
          <p:cNvSpPr/>
          <p:nvPr/>
        </p:nvSpPr>
        <p:spPr>
          <a:xfrm>
            <a:off x="365760" y="3063240"/>
            <a:ext cx="25603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🏛️  Governance &amp; Consensus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84048" y="3575304"/>
            <a:ext cx="2542032" cy="12618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Permissionless blockchains (Bitcoin, Ethereum) need supermajority consensus for hard forks. Politically contentious and technically risky — coordination across thousands of nodes. [2]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2743200" cy="1920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71800"/>
            <a:ext cx="2743200" cy="512064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22" name="Text 20"/>
          <p:cNvSpPr/>
          <p:nvPr/>
        </p:nvSpPr>
        <p:spPr>
          <a:xfrm>
            <a:off x="3291840" y="3063240"/>
            <a:ext cx="25603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🔄  Hybrid Transitioning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10128" y="3575304"/>
            <a:ext cx="2542032" cy="12618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 transactions with BOTH ECDSA + PQC during migration. Google's CECPQ2 experiment: X25519 + NTRU-based KEM. Doubles transaction size temporarily — but ensures continuity.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743200" cy="19202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71800"/>
            <a:ext cx="2743200" cy="512064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26" name="Text 24"/>
          <p:cNvSpPr/>
          <p:nvPr/>
        </p:nvSpPr>
        <p:spPr>
          <a:xfrm>
            <a:off x="6217920" y="3063240"/>
            <a:ext cx="25603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Permissioned Blockchains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36208" y="3575304"/>
            <a:ext cx="2542032" cy="12618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Enterprise / consortium blockchains (Corda, Hyperledger) face far fewer obstacles. Known participants + central authority → proactive PQC adoption is recommended NOW. [1]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</p:spPr>
      </p:sp>
      <p:sp>
        <p:nvSpPr>
          <p:cNvPr id="3" name="Text 1"/>
          <p:cNvSpPr/>
          <p:nvPr/>
        </p:nvSpPr>
        <p:spPr>
          <a:xfrm>
            <a:off x="320040" y="109728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Conceptual 4-Phase Migration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2011680" cy="530352"/>
          </a:xfrm>
          <a:prstGeom prst="rect">
            <a:avLst/>
          </a:prstGeom>
          <a:solidFill>
            <a:srgbClr val="2E86AB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50976"/>
            <a:ext cx="1920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207008"/>
            <a:ext cx="1920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Threat Inventory &amp; Timeline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331720" y="1078992"/>
            <a:ext cx="16459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86A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2011680" cy="32461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72768"/>
            <a:ext cx="109728" cy="324612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10" name="Shape 8"/>
          <p:cNvSpPr/>
          <p:nvPr/>
        </p:nvSpPr>
        <p:spPr>
          <a:xfrm>
            <a:off x="457200" y="1691640"/>
            <a:ext cx="256032" cy="256032"/>
          </a:xfrm>
          <a:prstGeom prst="ellipse">
            <a:avLst/>
          </a:prstGeom>
          <a:solidFill>
            <a:srgbClr val="2E86AB"/>
          </a:solidFill>
        </p:spPr>
      </p:sp>
      <p:sp>
        <p:nvSpPr>
          <p:cNvPr id="11" name="Text 9"/>
          <p:cNvSpPr/>
          <p:nvPr/>
        </p:nvSpPr>
        <p:spPr>
          <a:xfrm>
            <a:off x="457200" y="1709928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1691640"/>
            <a:ext cx="1444752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Catalogue all cryptographic primitives in use (ECDSA, RSA, hash functions)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715768"/>
            <a:ext cx="256032" cy="256032"/>
          </a:xfrm>
          <a:prstGeom prst="ellipse">
            <a:avLst/>
          </a:prstGeom>
          <a:solidFill>
            <a:srgbClr val="2E86AB"/>
          </a:solidFill>
        </p:spPr>
      </p:sp>
      <p:sp>
        <p:nvSpPr>
          <p:cNvPr id="14" name="Text 12"/>
          <p:cNvSpPr/>
          <p:nvPr/>
        </p:nvSpPr>
        <p:spPr>
          <a:xfrm>
            <a:off x="457200" y="2734056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2715768"/>
            <a:ext cx="1444752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Assess each against quantum attack vectors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739896"/>
            <a:ext cx="256032" cy="256032"/>
          </a:xfrm>
          <a:prstGeom prst="ellipse">
            <a:avLst/>
          </a:prstGeom>
          <a:solidFill>
            <a:srgbClr val="2E86AB"/>
          </a:solidFill>
        </p:spPr>
      </p:sp>
      <p:sp>
        <p:nvSpPr>
          <p:cNvPr id="17" name="Text 15"/>
          <p:cNvSpPr/>
          <p:nvPr/>
        </p:nvSpPr>
        <p:spPr>
          <a:xfrm>
            <a:off x="457200" y="3758184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3739896"/>
            <a:ext cx="1444752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Estimate timeline using qubit count roadmaps (IBM, Google)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50592" y="932688"/>
            <a:ext cx="2011680" cy="530352"/>
          </a:xfrm>
          <a:prstGeom prst="rect">
            <a:avLst/>
          </a:prstGeom>
          <a:solidFill>
            <a:srgbClr val="1B4F72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96312" y="950976"/>
            <a:ext cx="1920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96312" y="1207008"/>
            <a:ext cx="1920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Sensitivity Classification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07992" y="1078992"/>
            <a:ext cx="16459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450592" y="1572768"/>
            <a:ext cx="2011680" cy="32461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450592" y="1572768"/>
            <a:ext cx="109728" cy="324612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25" name="Shape 23"/>
          <p:cNvSpPr/>
          <p:nvPr/>
        </p:nvSpPr>
        <p:spPr>
          <a:xfrm>
            <a:off x="2633472" y="1691640"/>
            <a:ext cx="256032" cy="256032"/>
          </a:xfrm>
          <a:prstGeom prst="ellipse">
            <a:avLst/>
          </a:prstGeom>
          <a:solidFill>
            <a:srgbClr val="1B4F72"/>
          </a:solidFill>
        </p:spPr>
      </p:sp>
      <p:sp>
        <p:nvSpPr>
          <p:cNvPr id="26" name="Text 24"/>
          <p:cNvSpPr/>
          <p:nvPr/>
        </p:nvSpPr>
        <p:spPr>
          <a:xfrm>
            <a:off x="2633472" y="1709928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953512" y="1691640"/>
            <a:ext cx="1444752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high-value wallets with exposed public keys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633472" y="2715768"/>
            <a:ext cx="256032" cy="256032"/>
          </a:xfrm>
          <a:prstGeom prst="ellipse">
            <a:avLst/>
          </a:prstGeom>
          <a:solidFill>
            <a:srgbClr val="1B4F72"/>
          </a:solidFill>
        </p:spPr>
      </p:sp>
      <p:sp>
        <p:nvSpPr>
          <p:cNvPr id="29" name="Text 27"/>
          <p:cNvSpPr/>
          <p:nvPr/>
        </p:nvSpPr>
        <p:spPr>
          <a:xfrm>
            <a:off x="2633472" y="2734056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953512" y="2715768"/>
            <a:ext cx="1444752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Classify transaction data by sensitivity &amp; retention period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633472" y="3739896"/>
            <a:ext cx="256032" cy="256032"/>
          </a:xfrm>
          <a:prstGeom prst="ellipse">
            <a:avLst/>
          </a:prstGeom>
          <a:solidFill>
            <a:srgbClr val="1B4F72"/>
          </a:solidFill>
        </p:spPr>
      </p:sp>
      <p:sp>
        <p:nvSpPr>
          <p:cNvPr id="32" name="Text 30"/>
          <p:cNvSpPr/>
          <p:nvPr/>
        </p:nvSpPr>
        <p:spPr>
          <a:xfrm>
            <a:off x="2633472" y="3758184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953512" y="3739896"/>
            <a:ext cx="1444752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Prioritize harvest-now-decrypt-later attack surfaces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26864" y="932688"/>
            <a:ext cx="2011680" cy="530352"/>
          </a:xfrm>
          <a:prstGeom prst="rect">
            <a:avLst/>
          </a:prstGeom>
          <a:solidFill>
            <a:srgbClr val="E67E22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72584" y="950976"/>
            <a:ext cx="1920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72584" y="1207008"/>
            <a:ext cx="1920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 Selection &amp; Hybrid Transition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684264" y="1078992"/>
            <a:ext cx="16459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626864" y="1572768"/>
            <a:ext cx="2011680" cy="32461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26864" y="1572768"/>
            <a:ext cx="109728" cy="324612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40" name="Shape 38"/>
          <p:cNvSpPr/>
          <p:nvPr/>
        </p:nvSpPr>
        <p:spPr>
          <a:xfrm>
            <a:off x="4809744" y="1691640"/>
            <a:ext cx="256032" cy="256032"/>
          </a:xfrm>
          <a:prstGeom prst="ellipse">
            <a:avLst/>
          </a:prstGeom>
          <a:solidFill>
            <a:srgbClr val="E67E22"/>
          </a:solidFill>
        </p:spPr>
      </p:sp>
      <p:sp>
        <p:nvSpPr>
          <p:cNvPr id="41" name="Text 39"/>
          <p:cNvSpPr/>
          <p:nvPr/>
        </p:nvSpPr>
        <p:spPr>
          <a:xfrm>
            <a:off x="4809744" y="1709928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29784" y="1691640"/>
            <a:ext cx="1444752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NIST-approved: DILITHIUM / FALCON for signing, Kyber for KEM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09744" y="2715768"/>
            <a:ext cx="256032" cy="256032"/>
          </a:xfrm>
          <a:prstGeom prst="ellipse">
            <a:avLst/>
          </a:prstGeom>
          <a:solidFill>
            <a:srgbClr val="E67E22"/>
          </a:solidFill>
        </p:spPr>
      </p:sp>
      <p:sp>
        <p:nvSpPr>
          <p:cNvPr id="44" name="Text 42"/>
          <p:cNvSpPr/>
          <p:nvPr/>
        </p:nvSpPr>
        <p:spPr>
          <a:xfrm>
            <a:off x="4809744" y="2734056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129784" y="2715768"/>
            <a:ext cx="1444752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hybrid dual-signing during transition window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09744" y="3739896"/>
            <a:ext cx="256032" cy="256032"/>
          </a:xfrm>
          <a:prstGeom prst="ellipse">
            <a:avLst/>
          </a:prstGeom>
          <a:solidFill>
            <a:srgbClr val="E67E22"/>
          </a:solidFill>
        </p:spPr>
      </p:sp>
      <p:sp>
        <p:nvSpPr>
          <p:cNvPr id="47" name="Text 45"/>
          <p:cNvSpPr/>
          <p:nvPr/>
        </p:nvSpPr>
        <p:spPr>
          <a:xfrm>
            <a:off x="4809744" y="3758184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29784" y="3739896"/>
            <a:ext cx="1444752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Upgrade hash functions to SHA-512 / SHA-3-512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803136" y="932688"/>
            <a:ext cx="2011680" cy="530352"/>
          </a:xfrm>
          <a:prstGeom prst="rect">
            <a:avLst/>
          </a:prstGeom>
          <a:solidFill>
            <a:srgbClr val="27AE60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848856" y="950976"/>
            <a:ext cx="1920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4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848856" y="1207008"/>
            <a:ext cx="19202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Governance &amp; Upgrade Execution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803136" y="1572768"/>
            <a:ext cx="2011680" cy="32461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803136" y="1572768"/>
            <a:ext cx="109728" cy="3246120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54" name="Shape 52"/>
          <p:cNvSpPr/>
          <p:nvPr/>
        </p:nvSpPr>
        <p:spPr>
          <a:xfrm>
            <a:off x="6986016" y="1691640"/>
            <a:ext cx="256032" cy="256032"/>
          </a:xfrm>
          <a:prstGeom prst="ellipse">
            <a:avLst/>
          </a:prstGeom>
          <a:solidFill>
            <a:srgbClr val="27AE60"/>
          </a:solidFill>
        </p:spPr>
      </p:sp>
      <p:sp>
        <p:nvSpPr>
          <p:cNvPr id="55" name="Text 53"/>
          <p:cNvSpPr/>
          <p:nvPr/>
        </p:nvSpPr>
        <p:spPr>
          <a:xfrm>
            <a:off x="6986016" y="1709928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306056" y="1691640"/>
            <a:ext cx="1444752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Submit BIPs / EIPs with technical proofs &amp; benchmarks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986016" y="2715768"/>
            <a:ext cx="256032" cy="256032"/>
          </a:xfrm>
          <a:prstGeom prst="ellipse">
            <a:avLst/>
          </a:prstGeom>
          <a:solidFill>
            <a:srgbClr val="27AE60"/>
          </a:solidFill>
        </p:spPr>
      </p:sp>
      <p:sp>
        <p:nvSpPr>
          <p:cNvPr id="58" name="Text 56"/>
          <p:cNvSpPr/>
          <p:nvPr/>
        </p:nvSpPr>
        <p:spPr>
          <a:xfrm>
            <a:off x="6986016" y="2734056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306056" y="2715768"/>
            <a:ext cx="1444752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Community education — explain urgency without causing panic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986016" y="3739896"/>
            <a:ext cx="256032" cy="256032"/>
          </a:xfrm>
          <a:prstGeom prst="ellipse">
            <a:avLst/>
          </a:prstGeom>
          <a:solidFill>
            <a:srgbClr val="27AE60"/>
          </a:solidFill>
        </p:spPr>
      </p:sp>
      <p:sp>
        <p:nvSpPr>
          <p:cNvPr id="61" name="Text 59"/>
          <p:cNvSpPr/>
          <p:nvPr/>
        </p:nvSpPr>
        <p:spPr>
          <a:xfrm>
            <a:off x="6986016" y="3758184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306056" y="3739896"/>
            <a:ext cx="1444752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Permissioned systems: schedule hard fork with mandatory updates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</p:spPr>
      </p:sp>
      <p:sp>
        <p:nvSpPr>
          <p:cNvPr id="3" name="Text 1"/>
          <p:cNvSpPr/>
          <p:nvPr/>
        </p:nvSpPr>
        <p:spPr>
          <a:xfrm>
            <a:off x="320040" y="109728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Post-Quantum Blockchain Implementations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4206240" cy="12344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32688"/>
            <a:ext cx="164592" cy="1234440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6" name="Shape 4"/>
          <p:cNvSpPr/>
          <p:nvPr/>
        </p:nvSpPr>
        <p:spPr>
          <a:xfrm>
            <a:off x="3337560" y="1024128"/>
            <a:ext cx="1051560" cy="329184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7" name="Text 5"/>
          <p:cNvSpPr/>
          <p:nvPr/>
        </p:nvSpPr>
        <p:spPr>
          <a:xfrm>
            <a:off x="3337560" y="1042416"/>
            <a:ext cx="1051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987552"/>
            <a:ext cx="2697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Quantum-Resistant Ledger (QRL)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1389888"/>
            <a:ext cx="384048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complete PQC blockchain. Built from scratch with XMSS (hash-based signatures). Full ecosystem — wallets, explorer, exchange support.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932688"/>
            <a:ext cx="4206240" cy="12344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32688"/>
            <a:ext cx="164592" cy="123444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12" name="Shape 10"/>
          <p:cNvSpPr/>
          <p:nvPr/>
        </p:nvSpPr>
        <p:spPr>
          <a:xfrm>
            <a:off x="7818120" y="1024128"/>
            <a:ext cx="1051560" cy="329184"/>
          </a:xfrm>
          <a:prstGeom prst="rect">
            <a:avLst/>
          </a:prstGeom>
          <a:solidFill>
            <a:srgbClr val="E67E22">
              <a:alpha val="70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7818120" y="1042416"/>
            <a:ext cx="1051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987552"/>
            <a:ext cx="2697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Ethereum (zk-STARKs roadmap)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0" y="1389888"/>
            <a:ext cx="384048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Vitalik's roadmap includes zk-STARKs, which are quantum-safe by design (hash-based). Not yet default, but under active research &amp; development.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304288"/>
            <a:ext cx="4206240" cy="12344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304288"/>
            <a:ext cx="164592" cy="1234440"/>
          </a:xfrm>
          <a:prstGeom prst="rect">
            <a:avLst/>
          </a:prstGeom>
          <a:solidFill>
            <a:srgbClr val="F39C12"/>
          </a:solidFill>
        </p:spPr>
      </p:sp>
      <p:sp>
        <p:nvSpPr>
          <p:cNvPr id="18" name="Shape 16"/>
          <p:cNvSpPr/>
          <p:nvPr/>
        </p:nvSpPr>
        <p:spPr>
          <a:xfrm>
            <a:off x="3337560" y="2395728"/>
            <a:ext cx="1051560" cy="329184"/>
          </a:xfrm>
          <a:prstGeom prst="rect">
            <a:avLst/>
          </a:prstGeom>
          <a:solidFill>
            <a:srgbClr val="F39C12">
              <a:alpha val="70000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3337560" y="2414016"/>
            <a:ext cx="1051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Experimental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2359152"/>
            <a:ext cx="2697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Bitcoin Post-Quantum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2761488"/>
            <a:ext cx="384048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Experimental fork of Bitcoin codebase incorporating post-quantum signatures. Not merged into main Bitcoin — requires community consensus via BIP.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304288"/>
            <a:ext cx="4206240" cy="12344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304288"/>
            <a:ext cx="164592" cy="1234440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24" name="Shape 22"/>
          <p:cNvSpPr/>
          <p:nvPr/>
        </p:nvSpPr>
        <p:spPr>
          <a:xfrm>
            <a:off x="7818120" y="2395728"/>
            <a:ext cx="1051560" cy="329184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25" name="Text 23"/>
          <p:cNvSpPr/>
          <p:nvPr/>
        </p:nvSpPr>
        <p:spPr>
          <a:xfrm>
            <a:off x="7818120" y="2414016"/>
            <a:ext cx="1051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0" y="2359152"/>
            <a:ext cx="2697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Abelian Blockchain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0" y="2761488"/>
            <a:ext cx="384048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Designed from inception around lattice-based post-quantum cryptography. Privacy coin with NIST-aligned cryptographic foundations.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675888"/>
            <a:ext cx="4206240" cy="12344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675888"/>
            <a:ext cx="164592" cy="12344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30" name="Shape 28"/>
          <p:cNvSpPr/>
          <p:nvPr/>
        </p:nvSpPr>
        <p:spPr>
          <a:xfrm>
            <a:off x="3337560" y="3767328"/>
            <a:ext cx="1051560" cy="329184"/>
          </a:xfrm>
          <a:prstGeom prst="rect">
            <a:avLst/>
          </a:prstGeom>
          <a:solidFill>
            <a:srgbClr val="1B4F72">
              <a:alpha val="70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3337560" y="3785616"/>
            <a:ext cx="1051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3730752"/>
            <a:ext cx="2697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Corda (R3 Enterprise)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4133088"/>
            <a:ext cx="384048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Enterprise blockchain experimenting with SPHINCS+ hash-based signatures. Permissioned architecture makes migration significantly more feasible.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675888"/>
            <a:ext cx="4206240" cy="12344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675888"/>
            <a:ext cx="164592" cy="1234440"/>
          </a:xfrm>
          <a:prstGeom prst="rect">
            <a:avLst/>
          </a:prstGeom>
          <a:solidFill>
            <a:srgbClr val="7D3C98"/>
          </a:solidFill>
        </p:spPr>
      </p:sp>
      <p:sp>
        <p:nvSpPr>
          <p:cNvPr id="36" name="Shape 34"/>
          <p:cNvSpPr/>
          <p:nvPr/>
        </p:nvSpPr>
        <p:spPr>
          <a:xfrm>
            <a:off x="7818120" y="3767328"/>
            <a:ext cx="1051560" cy="329184"/>
          </a:xfrm>
          <a:prstGeom prst="rect">
            <a:avLst/>
          </a:prstGeom>
          <a:solidFill>
            <a:srgbClr val="7D3C98"/>
          </a:solidFill>
        </p:spPr>
      </p:sp>
      <p:sp>
        <p:nvSpPr>
          <p:cNvPr id="37" name="Text 35"/>
          <p:cNvSpPr/>
          <p:nvPr/>
        </p:nvSpPr>
        <p:spPr>
          <a:xfrm>
            <a:off x="7818120" y="3785616"/>
            <a:ext cx="10515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0" y="3730752"/>
            <a:ext cx="2697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IOTA Tangle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029200" y="4133088"/>
            <a:ext cx="384048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Winternitz one-time signatures — inherently quantum-resistant. Requires careful key reuse management to maintain security guarantees.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</p:spPr>
      </p:sp>
      <p:sp>
        <p:nvSpPr>
          <p:cNvPr id="3" name="Text 1"/>
          <p:cNvSpPr/>
          <p:nvPr/>
        </p:nvSpPr>
        <p:spPr>
          <a:xfrm>
            <a:off x="320040" y="109728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Findings &amp; 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566928"/>
          </a:xfrm>
          <a:prstGeom prst="rect">
            <a:avLst/>
          </a:prstGeom>
          <a:solidFill>
            <a:srgbClr val="1A2E4A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75488" cy="566928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6" name="Text 4"/>
          <p:cNvSpPr/>
          <p:nvPr/>
        </p:nvSpPr>
        <p:spPr>
          <a:xfrm>
            <a:off x="320040" y="1106424"/>
            <a:ext cx="47548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86968" y="1051560"/>
            <a:ext cx="784555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primary quantum risk is at the digital signature layer — ECDSA is directly &amp; completely broken by Shor's algorithm.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27632"/>
            <a:ext cx="8503920" cy="566928"/>
          </a:xfrm>
          <a:prstGeom prst="rect">
            <a:avLst/>
          </a:prstGeom>
          <a:solidFill>
            <a:srgbClr val="1A2E4A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627632"/>
            <a:ext cx="475488" cy="566928"/>
          </a:xfrm>
          <a:prstGeom prst="rect">
            <a:avLst/>
          </a:prstGeom>
          <a:solidFill>
            <a:srgbClr val="F39C12"/>
          </a:solidFill>
        </p:spPr>
      </p:sp>
      <p:sp>
        <p:nvSpPr>
          <p:cNvPr id="10" name="Text 8"/>
          <p:cNvSpPr/>
          <p:nvPr/>
        </p:nvSpPr>
        <p:spPr>
          <a:xfrm>
            <a:off x="320040" y="1773936"/>
            <a:ext cx="47548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6968" y="1719072"/>
            <a:ext cx="784555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Hash functions face a moderate, mitigable threat from Grover's algorithm — simply double the hash output length.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295144"/>
            <a:ext cx="8503920" cy="566928"/>
          </a:xfrm>
          <a:prstGeom prst="rect">
            <a:avLst/>
          </a:prstGeom>
          <a:solidFill>
            <a:srgbClr val="1A2E4A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295144"/>
            <a:ext cx="475488" cy="566928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14" name="Text 12"/>
          <p:cNvSpPr/>
          <p:nvPr/>
        </p:nvSpPr>
        <p:spPr>
          <a:xfrm>
            <a:off x="320040" y="2441448"/>
            <a:ext cx="47548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86968" y="2386584"/>
            <a:ext cx="784555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"harvest now, decrypt later" threat makes proactive migration uniquely urgent for blockchain vs. other systems.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962656"/>
            <a:ext cx="8503920" cy="566928"/>
          </a:xfrm>
          <a:prstGeom prst="rect">
            <a:avLst/>
          </a:prstGeom>
          <a:solidFill>
            <a:srgbClr val="1A2E4A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62656"/>
            <a:ext cx="475488" cy="566928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18" name="Text 16"/>
          <p:cNvSpPr/>
          <p:nvPr/>
        </p:nvSpPr>
        <p:spPr>
          <a:xfrm>
            <a:off x="320040" y="3108960"/>
            <a:ext cx="47548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6968" y="3054096"/>
            <a:ext cx="784555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CRYSTALS-DILITHIUM &amp; FALCON are the most practical PQC replacements; CRYSTALS-Kyber addresses key exchange.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630168"/>
            <a:ext cx="8503920" cy="566928"/>
          </a:xfrm>
          <a:prstGeom prst="rect">
            <a:avLst/>
          </a:prstGeom>
          <a:solidFill>
            <a:srgbClr val="1A2E4A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630168"/>
            <a:ext cx="475488" cy="566928"/>
          </a:xfrm>
          <a:prstGeom prst="rect">
            <a:avLst/>
          </a:prstGeom>
          <a:solidFill>
            <a:srgbClr val="5DADE2"/>
          </a:solidFill>
        </p:spPr>
      </p:sp>
      <p:sp>
        <p:nvSpPr>
          <p:cNvPr id="22" name="Text 20"/>
          <p:cNvSpPr/>
          <p:nvPr/>
        </p:nvSpPr>
        <p:spPr>
          <a:xfrm>
            <a:off x="320040" y="3776472"/>
            <a:ext cx="47548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6968" y="3721608"/>
            <a:ext cx="784555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Migration is technically complex but feasible — governance coordination is the hardest challenge for permissionless chains.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297680"/>
            <a:ext cx="8503920" cy="566928"/>
          </a:xfrm>
          <a:prstGeom prst="rect">
            <a:avLst/>
          </a:prstGeom>
          <a:solidFill>
            <a:srgbClr val="1A2E4A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4297680"/>
            <a:ext cx="475488" cy="566928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26" name="Text 24"/>
          <p:cNvSpPr/>
          <p:nvPr/>
        </p:nvSpPr>
        <p:spPr>
          <a:xfrm>
            <a:off x="320040" y="4443984"/>
            <a:ext cx="47548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86968" y="4389120"/>
            <a:ext cx="784555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Decentralization is NOT irrelevant — blockchain consensus mechanisms can orchestrate coordinated PQC upgrades without a central authority.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A"/>
          </a:solidFill>
        </p:spPr>
      </p:sp>
      <p:sp>
        <p:nvSpPr>
          <p:cNvPr id="3" name="Text 1"/>
          <p:cNvSpPr/>
          <p:nvPr/>
        </p:nvSpPr>
        <p:spPr>
          <a:xfrm>
            <a:off x="320040" y="109728"/>
            <a:ext cx="8229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Text 3"/>
          <p:cNvSpPr/>
          <p:nvPr/>
        </p:nvSpPr>
        <p:spPr>
          <a:xfrm>
            <a:off x="365760" y="950976"/>
            <a:ext cx="40050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[1] Fernandez-Carames &amp; Fraga-Lamas (2020). Towards post-quantum blockchain. IEEE Access, 8, 21091–21116.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160520" cy="420624"/>
          </a:xfrm>
          <a:prstGeom prst="rect">
            <a:avLst/>
          </a:prstGeom>
          <a:solidFill>
            <a:srgbClr val="E8F4FD"/>
          </a:solidFill>
        </p:spPr>
      </p:sp>
      <p:sp>
        <p:nvSpPr>
          <p:cNvPr id="7" name="Text 5"/>
          <p:cNvSpPr/>
          <p:nvPr/>
        </p:nvSpPr>
        <p:spPr>
          <a:xfrm>
            <a:off x="365760" y="1453896"/>
            <a:ext cx="40050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[2] Rodenburg &amp; Pappas (2017). Blockchain and quantum computing. MITRE Technical Report MTR17048.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16052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" name="Text 7"/>
          <p:cNvSpPr/>
          <p:nvPr/>
        </p:nvSpPr>
        <p:spPr>
          <a:xfrm>
            <a:off x="365760" y="1956816"/>
            <a:ext cx="40050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[3] Nakamoto, S. (2008). Bitcoin: A peer-to-peer electronic cash system. bitcoin.org/bitcoin.pdf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2423160"/>
            <a:ext cx="4160520" cy="420624"/>
          </a:xfrm>
          <a:prstGeom prst="rect">
            <a:avLst/>
          </a:prstGeom>
          <a:solidFill>
            <a:srgbClr val="E8F4FD"/>
          </a:solidFill>
        </p:spPr>
      </p:sp>
      <p:sp>
        <p:nvSpPr>
          <p:cNvPr id="11" name="Text 9"/>
          <p:cNvSpPr/>
          <p:nvPr/>
        </p:nvSpPr>
        <p:spPr>
          <a:xfrm>
            <a:off x="365760" y="2459736"/>
            <a:ext cx="40050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[4] Shor, P.W. (1997). Polynomial-time algorithms for prime factorization and discrete logarithms. SIAM J. Computing, 26(5).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16052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Text 11"/>
          <p:cNvSpPr/>
          <p:nvPr/>
        </p:nvSpPr>
        <p:spPr>
          <a:xfrm>
            <a:off x="365760" y="2962656"/>
            <a:ext cx="40050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[5] Grover, L.K. (1996). A fast quantum mechanical algorithm for database search. STOC '96, pp. 212–219.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3429000"/>
            <a:ext cx="4160520" cy="420624"/>
          </a:xfrm>
          <a:prstGeom prst="rect">
            <a:avLst/>
          </a:prstGeom>
          <a:solidFill>
            <a:srgbClr val="E8F4FD"/>
          </a:solidFill>
        </p:spPr>
      </p:sp>
      <p:sp>
        <p:nvSpPr>
          <p:cNvPr id="15" name="Text 13"/>
          <p:cNvSpPr/>
          <p:nvPr/>
        </p:nvSpPr>
        <p:spPr>
          <a:xfrm>
            <a:off x="365760" y="3465576"/>
            <a:ext cx="40050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[6] NIST (2016). Report on post-quantum cryptography (NISTIR 8105).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3931920"/>
            <a:ext cx="416052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365760" y="3968496"/>
            <a:ext cx="40050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[7] NIST (2024). Post-quantum cryptography standards (FIPS 203, 204, 205). csrc.nist.gov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4434840"/>
            <a:ext cx="4160520" cy="420624"/>
          </a:xfrm>
          <a:prstGeom prst="rect">
            <a:avLst/>
          </a:prstGeom>
          <a:solidFill>
            <a:srgbClr val="E8F4FD"/>
          </a:solidFill>
        </p:spPr>
      </p:sp>
      <p:sp>
        <p:nvSpPr>
          <p:cNvPr id="19" name="Text 17"/>
          <p:cNvSpPr/>
          <p:nvPr/>
        </p:nvSpPr>
        <p:spPr>
          <a:xfrm>
            <a:off x="365760" y="4471416"/>
            <a:ext cx="40050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[8] Proos &amp; Zalka (2003). Shor's discrete logarithm algorithm for elliptic curves. QIC, 3(4), 317–344.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914400"/>
            <a:ext cx="416052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4754880" y="950976"/>
            <a:ext cx="40050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[9] Bernstein, Buchmann &amp; Dahmen (Eds.) (2009). Post-quantum cryptography. Springer.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1417320"/>
            <a:ext cx="4160520" cy="420624"/>
          </a:xfrm>
          <a:prstGeom prst="rect">
            <a:avLst/>
          </a:prstGeom>
          <a:solidFill>
            <a:srgbClr val="E8F4FD"/>
          </a:solidFill>
        </p:spPr>
      </p:sp>
      <p:sp>
        <p:nvSpPr>
          <p:cNvPr id="23" name="Text 21"/>
          <p:cNvSpPr/>
          <p:nvPr/>
        </p:nvSpPr>
        <p:spPr>
          <a:xfrm>
            <a:off x="4754880" y="1453896"/>
            <a:ext cx="40050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[10] Ducas et al. (2018). CRYSTALS-Dilithium. IACR TCHES, 2018(1), 238–268.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1920240"/>
            <a:ext cx="416052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5" name="Text 23"/>
          <p:cNvSpPr/>
          <p:nvPr/>
        </p:nvSpPr>
        <p:spPr>
          <a:xfrm>
            <a:off x="4754880" y="1956816"/>
            <a:ext cx="40050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[11] Prest et al. (2020). FALCON: Fast Fourier lattice-based compact signatures. NIST PQC Submission.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2423160"/>
            <a:ext cx="4160520" cy="420624"/>
          </a:xfrm>
          <a:prstGeom prst="rect">
            <a:avLst/>
          </a:prstGeom>
          <a:solidFill>
            <a:srgbClr val="E8F4FD"/>
          </a:solidFill>
        </p:spPr>
      </p:sp>
      <p:sp>
        <p:nvSpPr>
          <p:cNvPr id="27" name="Text 25"/>
          <p:cNvSpPr/>
          <p:nvPr/>
        </p:nvSpPr>
        <p:spPr>
          <a:xfrm>
            <a:off x="4754880" y="2459736"/>
            <a:ext cx="40050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[12] Bernstein et al. (2019). The SPHINCS+ signature framework. ACM CCS 2019.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63440" y="2926080"/>
            <a:ext cx="416052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9" name="Text 27"/>
          <p:cNvSpPr/>
          <p:nvPr/>
        </p:nvSpPr>
        <p:spPr>
          <a:xfrm>
            <a:off x="4754880" y="2962656"/>
            <a:ext cx="40050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[13] Avanzi et al. (2021). CRYSTALS-Kyber algorithm specifications. NIST PQC Submission.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3429000"/>
            <a:ext cx="4160520" cy="420624"/>
          </a:xfrm>
          <a:prstGeom prst="rect">
            <a:avLst/>
          </a:prstGeom>
          <a:solidFill>
            <a:srgbClr val="E8F4FD"/>
          </a:solidFill>
        </p:spPr>
      </p:sp>
      <p:sp>
        <p:nvSpPr>
          <p:cNvPr id="31" name="Text 29"/>
          <p:cNvSpPr/>
          <p:nvPr/>
        </p:nvSpPr>
        <p:spPr>
          <a:xfrm>
            <a:off x="4754880" y="3465576"/>
            <a:ext cx="40050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[14] Mosca (2018). Cybersecurity in an era with quantum computers. IEEE Security &amp; Privacy, 16(5).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3931920"/>
            <a:ext cx="416052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4754880" y="3968496"/>
            <a:ext cx="40050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[15] Stewart et al. (2018). Committing to quantum resistance. Royal Society Open Science, 5(6).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4434840"/>
            <a:ext cx="4160520" cy="420624"/>
          </a:xfrm>
          <a:prstGeom prst="rect">
            <a:avLst/>
          </a:prstGeom>
          <a:solidFill>
            <a:srgbClr val="E8F4FD"/>
          </a:solidFill>
        </p:spPr>
      </p:sp>
      <p:sp>
        <p:nvSpPr>
          <p:cNvPr id="35" name="Text 33"/>
          <p:cNvSpPr/>
          <p:nvPr/>
        </p:nvSpPr>
        <p:spPr>
          <a:xfrm>
            <a:off x="4754880" y="4471416"/>
            <a:ext cx="40050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[16-20] Gao et al. (2018) IEEE Access  |  Yin et al. (2018) IEEE Access  |  Li et al. (2019) IEEE Access  |  Barker (2016) NIST SP 800-57  |  NSA/IAD (2015) CNSA Suite FAQ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11560</Words>
  <Application>WPS Presentation</Application>
  <PresentationFormat>On-screen Show (16:9)</PresentationFormat>
  <Paragraphs>513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Quantum-Era Blockchain Security</dc:title>
  <dc:creator>Areeba Tahir</dc:creator>
  <dc:subject>PptxGenJS Presentation</dc:subject>
  <cp:lastModifiedBy>PMLS</cp:lastModifiedBy>
  <cp:revision>2</cp:revision>
  <dcterms:created xsi:type="dcterms:W3CDTF">2026-04-18T14:13:00Z</dcterms:created>
  <dcterms:modified xsi:type="dcterms:W3CDTF">2026-04-19T07:50:08Z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AB490E9C63434CBD910FA36C5C55FF72_12</vt:lpwstr>
  </property>
  <property fmtid="{D5CDD505-2E9C-101B-9397-08002B2CF9AE}" pid="3" name="KSOProductBuildVer">
    <vt:lpwstr>2057-12.2.0.23201</vt:lpwstr>
  </property>
</Properties>
</file>